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10s. Bom dia. Hoje vou apresentar um modelo que ajuda a antecipar quais municípios correm risco de não alfabetizar suas crianças na idade certa — e como usar isso para priorizar 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25s. O país tem meta de 100% até 2030. Hoje quase metade dos municípios ainda não bate a própria meta. E o resultado nacional agregado não diz a um gestor onde ele deve agir primeiro.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20s. Construímos um modelo que prevê se um município atinge ou não a sua meta. Ele foi desenhado para responder cinco perguntas de negócio — e é por elas que a apresentação anda.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30s. A unidade de análise é município por ano, 2023 e 2024 — é o nível em que existe informação territorial e socioeconômica de verdade. Cruzamos a avaliação oficial do INEP com população, PIB, território e indicadores educacionais. São cerca de 9.900 municípios-ano.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35s. Dois achados. Primeiro: a melhora de 2023 para 2024 foi real — mais que dobrou o percentual de municípios na meta. Boa notícia de política pública, não artefato de meta mais fácil. Segundo, e mais importante: antes de qualquer modelo, os dados já mostravam que onde o município está pesa mais do que quase qualquer outra variável.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40s. Testamos três abordagens e a mais simples venceu — o que é ótimo, porque é a mais fácil de explicar para quem vai usar o resultado. No teste fora da amostra o modelo discrimina melhor que o acaso, com ROC-AUC de 0,67, e já identifica oito em cada dez municípios que de fato não batem a meta, sem nenhum ajuste fino.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30s. O modelo confirma o que a análise já apontava: UF e região dominam a decisão. E aparece um achado contraintuitivo — o percentual de professores com curso superior associado a pior resultado. Não tratamos isso como causa; tratamos como pergunta aberta para investigar.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35s. O ranking do modelo aponta os municípios de maior risco, prevendo sem ter visto nenhum dado de 2024 no treino — e nove em cada dez dos vinte primeiros de fato não bateram a meta. Além disso, os municípios se agrupam em dois perfis regionais bem distintos. Isso dá aos gestores dois níveis de priorização: por perfil regional amplo, e por município específico dentro dele.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35s. Na prática, isso é uma ferramenta de triagem, não uma decisão automática — serve para priorizar visita técnica e recurso onde o risco é maior. E tem um achado de baixo custo e alto impacto: um em cada cinco municípios que não bateram a meta estava a menos de dois pontos percentuais dela. É alvo fácil para ação de curto prazo. O modelo precisa ser atualizado a cada ciclo de avaliação.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20s. Dois limites, com transparência. Primeiro: treinando só com o ano anterior, o modelo continua achando quase todos os municípios em risco, mas alarma demais — ele ranqueia risco dentro de um ciclo, não prevê um ano novo sem recalibração. Segundo: o topo do ranking hoje é puxado pela Bahia, e isso já está mapeado como próximo passo.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10s. Fechamento: refinar o ranking por estado, ampliar a série histórica e investigar o achado sobre formação docente. O modelo já está pronto para apoiar a priorização de recursos hoje — e o caminho de evolução já está mapeado. Obrigado.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3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371600"/>
            <a:ext cx="5669280" cy="5669280"/>
          </a:xfrm>
          <a:prstGeom prst="ellipse">
            <a:avLst/>
          </a:prstGeom>
          <a:solidFill>
            <a:srgbClr val="1F5F4E">
              <a:alpha val="38000"/>
            </a:srgbClr>
          </a:solidFill>
          <a:ln w="12700">
            <a:solidFill>
              <a:srgbClr val="1F5F4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4023360"/>
            <a:ext cx="2926080" cy="2926080"/>
          </a:xfrm>
          <a:prstGeom prst="ellipse">
            <a:avLst/>
          </a:prstGeom>
          <a:solidFill>
            <a:srgbClr val="B06A14">
              <a:alpha val="22000"/>
            </a:srgbClr>
          </a:solidFill>
          <a:ln w="12700">
            <a:solidFill>
              <a:srgbClr val="B06A14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87452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Predição e Inteligência Analítica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Alfabetização no Brasil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BD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modelo para antecipar risco e priorizar política pública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852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— Fase 3  ·  Gustavo Leitão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33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isso importa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965960"/>
            <a:ext cx="3291840" cy="2651760"/>
          </a:xfrm>
          <a:prstGeom prst="roundRect">
            <a:avLst>
              <a:gd name="adj" fmla="val 2759"/>
            </a:avLst>
          </a:prstGeom>
          <a:solidFill>
            <a:srgbClr val="EDF3F0"/>
          </a:solidFill>
          <a:ln w="12700">
            <a:solidFill>
              <a:srgbClr val="EDF3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2860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F5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2030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4612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0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nacional: 100% das crianças alfabetizadas na idade certa.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34840" y="1965960"/>
            <a:ext cx="3291840" cy="2651760"/>
          </a:xfrm>
          <a:prstGeom prst="roundRect">
            <a:avLst>
              <a:gd name="adj" fmla="val 2759"/>
            </a:avLst>
          </a:prstGeom>
          <a:solidFill>
            <a:srgbClr val="FAF0E0"/>
          </a:solidFill>
          <a:ln w="12700">
            <a:solidFill>
              <a:srgbClr val="FAF0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709160" y="22860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B06A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46%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4709160" y="324612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0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municípios ainda não bateram a própria meta em 2024 — quase metade do país.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321040" y="1965960"/>
            <a:ext cx="3291840" cy="2651760"/>
          </a:xfrm>
          <a:prstGeom prst="roundRect">
            <a:avLst>
              <a:gd name="adj" fmla="val 2759"/>
            </a:avLst>
          </a:prstGeom>
          <a:solidFill>
            <a:srgbClr val="EDF3F0"/>
          </a:solidFill>
          <a:ln w="12700">
            <a:solidFill>
              <a:srgbClr val="EDF3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95360" y="22860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5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agir?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8595360" y="324612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0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Gestores precisam de prioridade municipal, não só do resultado nacional agregado.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33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construímos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4480560" cy="4023360"/>
          </a:xfrm>
          <a:prstGeom prst="roundRect">
            <a:avLst>
              <a:gd name="adj" fmla="val 1818"/>
            </a:avLst>
          </a:prstGeom>
          <a:solidFill>
            <a:srgbClr val="EDF3F0"/>
          </a:solidFill>
          <a:ln w="12700">
            <a:solidFill>
              <a:srgbClr val="EDF3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214884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33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modelo que prevê se um município atinge ou não a sua meta de alfabetização.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379476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camada Gold da Fase 2 ao ranking de risco que o gestor usa para priorizar.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40680" y="1691640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5 perguntas-chave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40680" y="2203704"/>
            <a:ext cx="457200" cy="457200"/>
          </a:xfrm>
          <a:prstGeom prst="ellipse">
            <a:avLst/>
          </a:prstGeom>
          <a:solidFill>
            <a:srgbClr val="1F5F4E"/>
          </a:solidFill>
          <a:ln w="12700">
            <a:solidFill>
              <a:srgbClr val="1F5F4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40680" y="2203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080760" y="2148840"/>
            <a:ext cx="5532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fatores mais impactam a alfabetização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40680" y="2953512"/>
            <a:ext cx="457200" cy="457200"/>
          </a:xfrm>
          <a:prstGeom prst="ellipse">
            <a:avLst/>
          </a:prstGeom>
          <a:solidFill>
            <a:srgbClr val="1F5F4E"/>
          </a:solidFill>
          <a:ln w="12700">
            <a:solidFill>
              <a:srgbClr val="1F5F4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40680" y="2953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080760" y="2898648"/>
            <a:ext cx="5532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municípios apresentam maior risco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40680" y="3703320"/>
            <a:ext cx="457200" cy="457200"/>
          </a:xfrm>
          <a:prstGeom prst="ellipse">
            <a:avLst/>
          </a:prstGeom>
          <a:solidFill>
            <a:srgbClr val="1F5F4E"/>
          </a:solidFill>
          <a:ln w="12700">
            <a:solidFill>
              <a:srgbClr val="1F5F4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4068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080760" y="3648456"/>
            <a:ext cx="5532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regiões têm padrões semelhantes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40680" y="4453128"/>
            <a:ext cx="457200" cy="457200"/>
          </a:xfrm>
          <a:prstGeom prst="ellipse">
            <a:avLst/>
          </a:prstGeom>
          <a:solidFill>
            <a:srgbClr val="1F5F4E"/>
          </a:solidFill>
          <a:ln w="12700">
            <a:solidFill>
              <a:srgbClr val="1F5F4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40680" y="4453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080760" y="4398264"/>
            <a:ext cx="5532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antecipar quem não atinge metas futuras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40680" y="5202936"/>
            <a:ext cx="457200" cy="457200"/>
          </a:xfrm>
          <a:prstGeom prst="ellipse">
            <a:avLst/>
          </a:prstGeom>
          <a:solidFill>
            <a:srgbClr val="1F5F4E"/>
          </a:solidFill>
          <a:ln w="12700">
            <a:solidFill>
              <a:srgbClr val="1F5F4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40680" y="5202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080760" y="5148072"/>
            <a:ext cx="5532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variáveis mais influenciam o modelo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33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de dados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50292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0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de análise: município × ano (2023 e 2024) — é o único nível com informação territorial e socioeconômica de verdade.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0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avaliação oficial de alfabetização do INEP, somada a população, PIB, território e indicadores educacionais complementares (IBGE/INEP).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0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Cerca de 9.900 registros de município × ano analisados.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4343400"/>
            <a:ext cx="5029200" cy="1234440"/>
          </a:xfrm>
          <a:prstGeom prst="roundRect">
            <a:avLst>
              <a:gd name="adj" fmla="val 5926"/>
            </a:avLst>
          </a:prstGeom>
          <a:solidFill>
            <a:srgbClr val="EDF3F0"/>
          </a:solidFill>
          <a:ln w="12700">
            <a:solidFill>
              <a:srgbClr val="EDF3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450799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5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~9.900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0749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de município × ano na base analítica</a:t>
            </a:r>
            <a:endParaRPr lang="en-US" sz="1350" dirty="0"/>
          </a:p>
        </p:txBody>
      </p:sp>
      <p:pic>
        <p:nvPicPr>
          <p:cNvPr id="7" name="Image 0" descr="/home/claude/deck/images/01_target_por_an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1737360"/>
            <a:ext cx="5760720" cy="38404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852160" y="562356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Municípios que atingiram a própria meta, por ano — INEP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33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Achados que guiaram o modelo</a:t>
            </a:r>
            <a:endParaRPr lang="en-US" sz="3400" dirty="0"/>
          </a:p>
        </p:txBody>
      </p:sp>
      <p:pic>
        <p:nvPicPr>
          <p:cNvPr id="3" name="Image 0" descr="/home/claude/deck/images/05_top_bottom_uf_20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5486400" cy="391885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564777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melhores e 5 piores UFs — atingimento da meta em 2024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6492240" y="1600200"/>
            <a:ext cx="5120640" cy="1783080"/>
          </a:xfrm>
          <a:prstGeom prst="roundRect">
            <a:avLst>
              <a:gd name="adj" fmla="val 4103"/>
            </a:avLst>
          </a:prstGeom>
          <a:solidFill>
            <a:srgbClr val="EDF3F0"/>
          </a:solidFill>
          <a:ln w="12700">
            <a:solidFill>
              <a:srgbClr val="EDF3F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766560" y="176479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5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23% → 54%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766560" y="23317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municípios na meta, de 2023 para 2024: a melhora foi real, não meta mais fácil.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6492240" y="3703320"/>
            <a:ext cx="51206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0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Geografia concentra o maior sinal: algumas regiões e estados performam muito abaixo da média nacional.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0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diferença entre o melhor e o pior estado passa de 80 pontos percentuais.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0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seja: onde o município está pesa mais do que quase qualquer outra variável.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33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modelo escolhido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EDF3F0"/>
          </a:solidFill>
          <a:ln w="12700">
            <a:solidFill>
              <a:srgbClr val="EDF3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0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Testamos 3 abordagens. A mais simples (Regressão Logística) venceu — mais fácil de explicar a quem usa o resultado, sem perder desempenho.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217920" y="141732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FAF0E0"/>
          </a:solidFill>
          <a:ln w="12700">
            <a:solidFill>
              <a:srgbClr val="FAF0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92240" y="155448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0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teste fora da amostra, discrimina melhor que o acaso (ROC-AUC 0,67) e já identifica 8 em cada 10 municípios que de fato não batem a meta.</a:t>
            </a:r>
            <a:endParaRPr lang="en-US" sz="1400" dirty="0"/>
          </a:p>
        </p:txBody>
      </p:sp>
      <p:pic>
        <p:nvPicPr>
          <p:cNvPr id="7" name="Image 0" descr="/home/claude/deck/images/09_comparacao_model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788920"/>
            <a:ext cx="5120640" cy="29260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68680" y="577900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médio (validação cruzada 5-fold)</a:t>
            </a:r>
            <a:endParaRPr lang="en-US" sz="1050" dirty="0"/>
          </a:p>
        </p:txBody>
      </p:sp>
      <p:pic>
        <p:nvPicPr>
          <p:cNvPr id="9" name="Image 1" descr="/home/claude/deck/images/11_curva_ro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2788920"/>
            <a:ext cx="3657600" cy="29260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949440" y="5779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ROC no conjunto de teste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33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Quais fatores mais influenciam</a:t>
            </a:r>
            <a:endParaRPr lang="en-US" sz="3400" dirty="0"/>
          </a:p>
        </p:txBody>
      </p:sp>
      <p:pic>
        <p:nvPicPr>
          <p:cNvPr id="3" name="Image 0" descr="/home/claude/deck/images/14_shap_sum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5332781" cy="4114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687568"/>
            <a:ext cx="533278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— contribuição de cada variável para a predição  ·  dsu_ef_anos_iniciais = % de docentes com curso superior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6583680" y="1508760"/>
            <a:ext cx="5029200" cy="2011680"/>
          </a:xfrm>
          <a:prstGeom prst="roundRect">
            <a:avLst>
              <a:gd name="adj" fmla="val 3636"/>
            </a:avLst>
          </a:prstGeom>
          <a:solidFill>
            <a:srgbClr val="EDF3F0"/>
          </a:solidFill>
          <a:ln w="12700">
            <a:solidFill>
              <a:srgbClr val="EDF3F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0" y="17373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5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UF e região dominam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6858000" y="224028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 o achado da análise exploratória: alguns estados puxam fortemente para cima ou para baixo a chance de sucesso do município.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583680" y="3794760"/>
            <a:ext cx="5029200" cy="2011680"/>
          </a:xfrm>
          <a:prstGeom prst="roundRect">
            <a:avLst>
              <a:gd name="adj" fmla="val 3636"/>
            </a:avLst>
          </a:prstGeom>
          <a:solidFill>
            <a:srgbClr val="FAF0E0"/>
          </a:solidFill>
          <a:ln w="12700">
            <a:solidFill>
              <a:srgbClr val="FAF0E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0" y="40233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06A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achado inesperado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6858000" y="452628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professores com curso superior aparece associado a pior resultado. Sinalizamos como algo a investigar — não como causa comprovada.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33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priorizar</a:t>
            </a:r>
            <a:endParaRPr lang="en-US" sz="3400" dirty="0"/>
          </a:p>
        </p:txBody>
      </p:sp>
      <p:pic>
        <p:nvPicPr>
          <p:cNvPr id="3" name="Image 0" descr="/home/claude/deck/images/16_clusters_por_regi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4846320" cy="302895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64743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Composição regional dos 2 perfis identificados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02920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0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perfis de município: um em Sudeste/Sul com melhor resultado, outro em Nordeste/Norte com resultado pior.</a:t>
            </a:r>
            <a:endParaRPr lang="en-US" sz="1350" dirty="0"/>
          </a:p>
          <a:p>
            <a:pPr marL="203200" indent="-2032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0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em cada 10 dos 20 primeiros do ranking não bateram a meta em 2024.</a:t>
            </a:r>
            <a:endParaRPr 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6309360" y="15544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do ranking de risco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965960"/>
          <a:ext cx="530352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1920240"/>
                <a:gridCol w="457200"/>
                <a:gridCol w="868680"/>
                <a:gridCol w="822960"/>
                <a:gridCol w="8229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Município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4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4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4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4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Almadina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0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23,9%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0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38,2%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0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Salvador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0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36,9%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0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0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Canavieiras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0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0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36,1%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0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Valença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0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31,9%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0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38,1%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0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Adustina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0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42,5%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0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0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36576" marB="36576" anchor="ctr">
                    <a:lnL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6309360" y="502920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Probabilidade prevista de atingir a meta — quanto menor, maior o risco. Predição feita sem o modelo ter visto dados de 2024 no treino.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33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Aplicação para política pública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0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 de triagem, não decisão automática: prioriza visitas técnicas e recursos onde o risco previsto é maior.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0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 ser atualizada a cada novo ciclo de avaliação — não é previsão fixa de longo prazo.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3657600"/>
            <a:ext cx="5120640" cy="2194560"/>
          </a:xfrm>
          <a:prstGeom prst="roundRect">
            <a:avLst>
              <a:gd name="adj" fmla="val 3333"/>
            </a:avLst>
          </a:prstGeom>
          <a:solidFill>
            <a:srgbClr val="FAF0E0"/>
          </a:solidFill>
          <a:ln w="12700">
            <a:solidFill>
              <a:srgbClr val="FAF0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9776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B06A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em cada 5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9377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0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municípios que não bateram a meta estavam a menos de 2 pontos percentuais dela — alvo de baixo custo e alto impacto no curto prazo.</a:t>
            </a:r>
            <a:endParaRPr lang="en-US" sz="1400" dirty="0"/>
          </a:p>
        </p:txBody>
      </p:sp>
      <p:pic>
        <p:nvPicPr>
          <p:cNvPr id="7" name="Image 0" descr="/home/claude/deck/images/08_gap_ate_me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2194560"/>
            <a:ext cx="5852160" cy="29260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943600" y="518464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Municípios fora da meta, por distância até ela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33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 modelo ainda não resolve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5486400" cy="2011680"/>
          </a:xfrm>
          <a:prstGeom prst="roundRect">
            <a:avLst>
              <a:gd name="adj" fmla="val 3636"/>
            </a:avLst>
          </a:prstGeom>
          <a:solidFill>
            <a:srgbClr val="EDF3F0"/>
          </a:solidFill>
          <a:ln w="12700">
            <a:solidFill>
              <a:srgbClr val="EDF3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8288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33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extrapola para um ano novo sem recalibração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87168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0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Treinando só com o ano anterior, ele continua sinalizando quase todos os municípios em risco, mas alarma demais — a precisão cai. Ranqueia risco dentro de um ciclo; não prevê o patamar de um ano inteiramente novo.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3840480"/>
            <a:ext cx="5486400" cy="2011680"/>
          </a:xfrm>
          <a:prstGeom prst="roundRect">
            <a:avLst>
              <a:gd name="adj" fmla="val 3636"/>
            </a:avLst>
          </a:prstGeom>
          <a:solidFill>
            <a:srgbClr val="FAF0E0"/>
          </a:solidFill>
          <a:ln w="12700">
            <a:solidFill>
              <a:srgbClr val="FAF0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0233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33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Ranking concentrado em um único estado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681728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0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o topo do ranking de risco é puxado fortemente pela Bahia. Já está mapeado como próximo passo de refinamento — estratificar o risco por estado.</a:t>
            </a:r>
            <a:endParaRPr lang="en-US" sz="1350" dirty="0"/>
          </a:p>
        </p:txBody>
      </p:sp>
      <p:pic>
        <p:nvPicPr>
          <p:cNvPr id="9" name="Image 0" descr="/home/claude/deck/images/12_precisao_recall_thresh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2194560"/>
            <a:ext cx="5394960" cy="308283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309360" y="534140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Precisão e recall conforme o ponto de corte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3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108960"/>
            <a:ext cx="5120640" cy="5120640"/>
          </a:xfrm>
          <a:prstGeom prst="ellipse">
            <a:avLst/>
          </a:prstGeom>
          <a:solidFill>
            <a:srgbClr val="1F5F4E">
              <a:alpha val="35000"/>
            </a:srgbClr>
          </a:solidFill>
          <a:ln w="12700">
            <a:solidFill>
              <a:srgbClr val="1F5F4E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0515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passos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37744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3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1089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Refinar o ranking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61188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BD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Estratificar o risco por estado, para não concentrar a priorização em uma única UF.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80560" y="237744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8056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3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31089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Ampliar a série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361188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BD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Incorporar mais ciclos de avaliação e melhorar a generalização entre anos.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38160" y="237744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3816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3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31089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Investigar o achado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8138160" y="361188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BD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o sinal contraintuitivo da formação docente antes de qualquer leitura causal.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394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modelo já está pronto para apoiar a priorização de recursos hoje — e o caminho de evolução já está mapeado.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Predição e Inteligência Analítica para Alfabetização no Brasil</dc:title>
  <dc:subject>PptxGenJS Presentation</dc:subject>
  <dc:creator>Gustavo Leitão</dc:creator>
  <cp:lastModifiedBy>Gustavo Leitão</cp:lastModifiedBy>
  <cp:revision>1</cp:revision>
  <dcterms:created xsi:type="dcterms:W3CDTF">2026-09-13T02:24:01Z</dcterms:created>
  <dcterms:modified xsi:type="dcterms:W3CDTF">2026-09-13T02:24:01Z</dcterms:modified>
</cp:coreProperties>
</file>